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60" r:id="rId3"/>
    <p:sldId id="261" r:id="rId4"/>
    <p:sldId id="262" r:id="rId5"/>
    <p:sldId id="264" r:id="rId6"/>
    <p:sldId id="271" r:id="rId7"/>
    <p:sldId id="265" r:id="rId8"/>
    <p:sldId id="269" r:id="rId9"/>
    <p:sldId id="267" r:id="rId10"/>
    <p:sldId id="270" r:id="rId11"/>
    <p:sldId id="268" r:id="rId12"/>
    <p:sldId id="275" r:id="rId13"/>
    <p:sldId id="273" r:id="rId14"/>
    <p:sldId id="274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476EE-9138-4985-8B4F-A9C1CFC5B926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66320-C7CA-44AB-9CA1-1697F96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5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Un árbol en un parque&#10;&#10;Descripción generada automáticamente con confianza media">
            <a:extLst>
              <a:ext uri="{FF2B5EF4-FFF2-40B4-BE49-F238E27FC236}">
                <a16:creationId xmlns:a16="http://schemas.microsoft.com/office/drawing/2014/main" id="{894FBB0B-12E5-CC93-F7E1-81910D5FF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b="23453"/>
          <a:stretch/>
        </p:blipFill>
        <p:spPr>
          <a:xfrm>
            <a:off x="307649" y="1397894"/>
            <a:ext cx="11477001" cy="5271219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6AF2A54-097C-ED10-9E6E-4CAF7D6D2BF6}"/>
              </a:ext>
            </a:extLst>
          </p:cNvPr>
          <p:cNvSpPr/>
          <p:nvPr userDrawn="1"/>
        </p:nvSpPr>
        <p:spPr>
          <a:xfrm>
            <a:off x="307649" y="290558"/>
            <a:ext cx="11477001" cy="6401486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79DD3F7-C76E-7ACD-FDE3-C50CD020A3D9}"/>
              </a:ext>
            </a:extLst>
          </p:cNvPr>
          <p:cNvSpPr/>
          <p:nvPr userDrawn="1"/>
        </p:nvSpPr>
        <p:spPr>
          <a:xfrm>
            <a:off x="1609457" y="764236"/>
            <a:ext cx="8973084" cy="3666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Imagen 18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38E16C5B-316A-E805-B032-B2B3E5B19A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22" y="6224111"/>
            <a:ext cx="1574802" cy="24561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CDC5240A-0D07-D10B-F16E-B252496E9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9875" y="1024560"/>
            <a:ext cx="8277308" cy="1495181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CLICK HERE TO MODIFY TITLE</a:t>
            </a:r>
            <a:endParaRPr lang="es-MX"/>
          </a:p>
        </p:txBody>
      </p:sp>
      <p:pic>
        <p:nvPicPr>
          <p:cNvPr id="22" name="Imagen 21" descr="Código QR&#10;&#10;Descripción generada automáticamente">
            <a:extLst>
              <a:ext uri="{FF2B5EF4-FFF2-40B4-BE49-F238E27FC236}">
                <a16:creationId xmlns:a16="http://schemas.microsoft.com/office/drawing/2014/main" id="{F602A2DE-16F6-DECD-C38A-1813FB9A74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871" y="3241809"/>
            <a:ext cx="1032971" cy="1006008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1C0CF555-FAF2-2C36-23B7-E61A7D6629E7}"/>
              </a:ext>
            </a:extLst>
          </p:cNvPr>
          <p:cNvGrpSpPr/>
          <p:nvPr userDrawn="1"/>
        </p:nvGrpSpPr>
        <p:grpSpPr>
          <a:xfrm>
            <a:off x="4998591" y="155946"/>
            <a:ext cx="2194818" cy="498088"/>
            <a:chOff x="4664579" y="137845"/>
            <a:chExt cx="2862841" cy="649688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B1E881E-1C69-94A9-9FCA-32D014FE5380}"/>
                </a:ext>
              </a:extLst>
            </p:cNvPr>
            <p:cNvSpPr/>
            <p:nvPr userDrawn="1"/>
          </p:nvSpPr>
          <p:spPr>
            <a:xfrm>
              <a:off x="4664579" y="137845"/>
              <a:ext cx="2862841" cy="64968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 descr="Forma&#10;&#10;Descripción generada automáticamente con confianza media">
              <a:extLst>
                <a:ext uri="{FF2B5EF4-FFF2-40B4-BE49-F238E27FC236}">
                  <a16:creationId xmlns:a16="http://schemas.microsoft.com/office/drawing/2014/main" id="{0D18C5FD-2CE3-D39E-5279-6720BD8F20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9437" y="180812"/>
              <a:ext cx="2613124" cy="467743"/>
            </a:xfrm>
            <a:prstGeom prst="rect">
              <a:avLst/>
            </a:prstGeom>
          </p:spPr>
        </p:pic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38642-8218-4197-9987-D281CC9FD5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79875" y="2654353"/>
            <a:ext cx="3665552" cy="774647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CC42AEF-ED82-C0AD-D85C-94E807A1AA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79875" y="3491301"/>
            <a:ext cx="3665552" cy="77464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Position 1</a:t>
            </a:r>
          </a:p>
          <a:p>
            <a:pPr lvl="0"/>
            <a:r>
              <a:rPr lang="en-US"/>
              <a:t>Position 2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978D49D-0DF8-1226-974C-94276DDC21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4873" y="2654353"/>
            <a:ext cx="3665552" cy="774647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4D36CFA-6C11-194A-8585-F927FF0C17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4873" y="3491301"/>
            <a:ext cx="3665552" cy="774647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Venue</a:t>
            </a:r>
          </a:p>
          <a:p>
            <a:pPr lvl="0"/>
            <a:r>
              <a:rPr lang="en-US"/>
              <a:t>Institution, City, Country</a:t>
            </a:r>
          </a:p>
        </p:txBody>
      </p:sp>
    </p:spTree>
    <p:extLst>
      <p:ext uri="{BB962C8B-B14F-4D97-AF65-F5344CB8AC3E}">
        <p14:creationId xmlns:p14="http://schemas.microsoft.com/office/powerpoint/2010/main" val="287402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9FA9E-7AF1-2B8F-8E5B-F341A4266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120" y="365125"/>
            <a:ext cx="1103468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49DE81-337C-617F-B500-591F8EB6F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03AE8A-9304-6E4B-91DF-72158314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9" y="6356350"/>
            <a:ext cx="1304224" cy="365125"/>
          </a:xfrm>
          <a:prstGeom prst="rect">
            <a:avLst/>
          </a:prstGeom>
        </p:spPr>
        <p:txBody>
          <a:bodyPr anchor="ctr"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65404F8-D6E6-4722-A8D7-5A45E730DFCE}" type="datetime4">
              <a:rPr lang="en-US" smtClean="0"/>
              <a:t>March 12, 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C29824-4960-D599-1B77-3A208B19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FBEEC9-49A2-0CB7-C2E5-14BA0CE6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 anchor="ctr"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  <p:pic>
        <p:nvPicPr>
          <p:cNvPr id="9" name="Imagen 8" descr="Forma&#10;&#10;Descripción generada automáticamente con confianza media">
            <a:extLst>
              <a:ext uri="{FF2B5EF4-FFF2-40B4-BE49-F238E27FC236}">
                <a16:creationId xmlns:a16="http://schemas.microsoft.com/office/drawing/2014/main" id="{882B2D48-1C99-1DEF-C8FF-A6DDD14EF9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E938DF8B-4E83-56A9-70B3-1E8C3233B1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691A3-8D8E-3013-4B0B-D9ECB4815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118" y="6094413"/>
            <a:ext cx="11574219" cy="261937"/>
          </a:xfrm>
        </p:spPr>
        <p:txBody>
          <a:bodyPr anchor="b">
            <a:normAutofit/>
          </a:bodyPr>
          <a:lstStyle>
            <a:lvl1pPr marL="514350" indent="-514350">
              <a:lnSpc>
                <a:spcPct val="100000"/>
              </a:lnSpc>
              <a:buFont typeface="+mj-lt"/>
              <a:buAutoNum type="arabicPeriod"/>
              <a:defRPr sz="900">
                <a:latin typeface="+mn-lt"/>
              </a:defRPr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96989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F6215-8DD3-3F8B-23EF-8126CFAD8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68350"/>
            <a:ext cx="7543029" cy="37941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931003-C094-3C6E-35C5-420E0AA1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684F5E72-F5E5-E759-0AA1-CFBC5E978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4585994B-FDA9-3003-86BC-209108A57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3BC6C0FC-AE94-01F3-AA78-316F4D32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68880" y="6356350"/>
            <a:ext cx="1270535" cy="365125"/>
          </a:xfrm>
          <a:prstGeom prst="rect">
            <a:avLst/>
          </a:prstGeom>
        </p:spPr>
        <p:txBody>
          <a:bodyPr anchor="ctr"/>
          <a:lstStyle>
            <a:lvl1pPr>
              <a:defRPr lang="en-US" smtClean="0"/>
            </a:lvl1pPr>
          </a:lstStyle>
          <a:p>
            <a:fld id="{D59467CD-606F-49C5-BF44-5CB6AA1BF748}" type="datetime4">
              <a:rPr lang="en-US" smtClean="0"/>
              <a:t>March 12, 2026</a:t>
            </a:fld>
            <a:endParaRPr lang="en-US"/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95F658F4-252E-FCF5-8DC4-C205D624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E8ED71CB-9064-0494-3D4D-A4B127E6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848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39ACE4-3B22-B8A9-4044-314DB963C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2CF7D0-4344-9A6B-0BF3-FA24E1EE9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pic>
        <p:nvPicPr>
          <p:cNvPr id="13" name="Imagen 12" descr="Forma&#10;&#10;Descripción generada automáticamente con confianza media">
            <a:extLst>
              <a:ext uri="{FF2B5EF4-FFF2-40B4-BE49-F238E27FC236}">
                <a16:creationId xmlns:a16="http://schemas.microsoft.com/office/drawing/2014/main" id="{9F8490A3-32BA-38B6-B297-3B3087F315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D04ED747-C3EA-AFC2-5934-7AF2A5C93F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142CABB7-AD4E-A12A-4F8A-8CBA2EE013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B5563B19-304C-30DC-A9E2-546B2001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9255" y="6356350"/>
            <a:ext cx="1299410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D9E0369-E596-4CC2-B716-DB4FAF33A982}" type="datetime4">
              <a:rPr lang="en-US" smtClean="0"/>
              <a:t>March 12, 2026</a:t>
            </a:fld>
            <a:endParaRPr lang="es-MX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5BDC66A1-8E6C-22B9-8CA9-A24DDEF0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30FA02BD-6D96-5DE7-B3C1-DCC6C023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227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F0AADF-66F7-A357-585B-B92CA92E0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66621"/>
            <a:ext cx="5157787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618ACB-A1A0-6286-6B3E-92F91FD36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2661"/>
            <a:ext cx="5157787" cy="32670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F2F577-5282-9F7D-4F4D-1DB111160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66621"/>
            <a:ext cx="5183188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44A096-AA24-3FC4-1A58-FFDE5CB14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2661"/>
            <a:ext cx="5183188" cy="32670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pic>
        <p:nvPicPr>
          <p:cNvPr id="15" name="Imagen 14" descr="Forma&#10;&#10;Descripción generada automáticamente con confianza media">
            <a:extLst>
              <a:ext uri="{FF2B5EF4-FFF2-40B4-BE49-F238E27FC236}">
                <a16:creationId xmlns:a16="http://schemas.microsoft.com/office/drawing/2014/main" id="{8926D58D-1911-E053-8BCE-680C34E4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116DAE83-EC34-0363-B771-FF8E52CE03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45FDAADD-FD8E-48CA-B517-5CE5FB9C1B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3" name="Marcador de fecha 3">
            <a:extLst>
              <a:ext uri="{FF2B5EF4-FFF2-40B4-BE49-F238E27FC236}">
                <a16:creationId xmlns:a16="http://schemas.microsoft.com/office/drawing/2014/main" id="{C631CC8D-6625-582A-A607-B5B73ED3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D80F4B5-DD3B-486C-A527-F777654EC5D1}" type="datetime4">
              <a:rPr lang="en-US" smtClean="0"/>
              <a:t>March 12, 2026</a:t>
            </a:fld>
            <a:endParaRPr lang="es-MX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8A95C323-DD12-E48A-6ED0-EE469699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2E75E940-1F55-3277-9212-269BA927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946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2B7DF355-0990-97A6-5D7E-D364877AC7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2" name="Imagen 11" descr="Icono&#10;&#10;Descripción generada automáticamente">
            <a:extLst>
              <a:ext uri="{FF2B5EF4-FFF2-40B4-BE49-F238E27FC236}">
                <a16:creationId xmlns:a16="http://schemas.microsoft.com/office/drawing/2014/main" id="{28525C45-4E83-5F24-E014-F49C9B9AB5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6965AEF9-7D97-B228-B785-12B95349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39937B47-3C1E-9493-9055-DDAB4563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0A2F9B7E-53D5-47A3-87EF-840A764BD8FE}" type="datetime4">
              <a:rPr lang="en-US" smtClean="0"/>
              <a:t>March 12, 2026</a:t>
            </a:fld>
            <a:endParaRPr lang="es-MX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E003F948-EB9C-F257-EAA2-22CD2C60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487CB8ED-0887-F259-6DB0-A411E864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826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Forma&#10;&#10;Descripción generada automáticamente con confianza media">
            <a:extLst>
              <a:ext uri="{FF2B5EF4-FFF2-40B4-BE49-F238E27FC236}">
                <a16:creationId xmlns:a16="http://schemas.microsoft.com/office/drawing/2014/main" id="{E0632A1B-2D32-6DD7-B28D-07A232DD04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34CABE1F-189A-5205-D8EB-F80E0D5470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3" name="Marcador de fecha 3">
            <a:extLst>
              <a:ext uri="{FF2B5EF4-FFF2-40B4-BE49-F238E27FC236}">
                <a16:creationId xmlns:a16="http://schemas.microsoft.com/office/drawing/2014/main" id="{EC5979DB-47E0-11F5-01EC-7E652B73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3797186-0E7D-451C-BD31-2F3D5F0161F2}" type="datetime4">
              <a:rPr lang="en-US" smtClean="0"/>
              <a:t>March 12, 2026</a:t>
            </a:fld>
            <a:endParaRPr lang="es-MX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E644F463-785A-C382-2A28-555BBB77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5" name="Marcador de número de diapositiva 5">
            <a:extLst>
              <a:ext uri="{FF2B5EF4-FFF2-40B4-BE49-F238E27FC236}">
                <a16:creationId xmlns:a16="http://schemas.microsoft.com/office/drawing/2014/main" id="{B595C627-0F79-7E9C-2602-0FC42FB6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717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373F61-4322-BCE3-1479-155CCA4A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6A91F8-C6C8-B7C0-3CAD-1B38C24B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09914"/>
            <a:ext cx="4236413" cy="34590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Imagen 12" descr="Forma&#10;&#10;Descripción generada automáticamente con confianza media">
            <a:extLst>
              <a:ext uri="{FF2B5EF4-FFF2-40B4-BE49-F238E27FC236}">
                <a16:creationId xmlns:a16="http://schemas.microsoft.com/office/drawing/2014/main" id="{2F6F57B0-C5B2-A86B-8026-2FE43409E6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30ED61C6-8048-2DF2-C09B-AFB42F1AAA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AD09A649-C4C6-7D6F-94FD-B22108026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38001" cy="182259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9F482424-0CA0-53EC-B6C6-CC092AB3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D94E318-0FEB-4023-B073-A9B1C70F4C44}" type="datetime4">
              <a:rPr lang="en-US" smtClean="0"/>
              <a:t>March 12, 2026</a:t>
            </a:fld>
            <a:endParaRPr lang="es-MX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FA4CB8DF-4D38-081D-A5F3-8BC447F5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50412CD0-03B2-FB52-8C59-C125C669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266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CD9E5D-F900-252D-270E-CB79DA18A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s-MX"/>
          </a:p>
        </p:txBody>
      </p:sp>
      <p:pic>
        <p:nvPicPr>
          <p:cNvPr id="13" name="Imagen 12" descr="Forma&#10;&#10;Descripción generada automáticamente con confianza media">
            <a:extLst>
              <a:ext uri="{FF2B5EF4-FFF2-40B4-BE49-F238E27FC236}">
                <a16:creationId xmlns:a16="http://schemas.microsoft.com/office/drawing/2014/main" id="{F53DB6B0-FC98-DBD4-62EB-E895C9F49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BE2C39F6-A3AC-9574-B3FC-2BF4C5E3D3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D963571A-DD58-155B-60FB-915F8C746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09914"/>
            <a:ext cx="4236413" cy="34590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9933457E-0DEB-20DA-E628-956FDC8C94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38001" cy="182259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102F433A-E052-80BA-86F1-B2CE9180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48E9042-D967-4E0D-BD72-40F1A7B49BEB}" type="datetime4">
              <a:rPr lang="en-US" smtClean="0"/>
              <a:t>March 12, 2026</a:t>
            </a:fld>
            <a:endParaRPr lang="es-MX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743B23F-C4B1-20B1-9155-FE73F00A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C2F423A7-5DA2-AD59-D101-3DC46CA8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989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FD4F5-F620-03A0-2463-BE800C383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pic>
        <p:nvPicPr>
          <p:cNvPr id="12" name="Imagen 11" descr="Forma&#10;&#10;Descripción generada automáticamente con confianza media">
            <a:extLst>
              <a:ext uri="{FF2B5EF4-FFF2-40B4-BE49-F238E27FC236}">
                <a16:creationId xmlns:a16="http://schemas.microsoft.com/office/drawing/2014/main" id="{C4CACA47-2460-7E13-5963-BC5A26084A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0979CF61-39AB-4490-5D23-A07809936A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249D8FC2-E444-D9E6-D75F-A30F31B45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59CF7297-C054-E1D6-DE9C-A8ACA964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F3F316-E20F-4B2B-AFB4-831C685C74B6}" type="datetime4">
              <a:rPr lang="en-US" smtClean="0"/>
              <a:t>March 12, 2026</a:t>
            </a:fld>
            <a:endParaRPr lang="es-MX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9A293C72-D5F9-C01A-86CD-B4C32AA7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5" name="Marcador de número de diapositiva 5">
            <a:extLst>
              <a:ext uri="{FF2B5EF4-FFF2-40B4-BE49-F238E27FC236}">
                <a16:creationId xmlns:a16="http://schemas.microsoft.com/office/drawing/2014/main" id="{970F4AA7-F32B-75A3-9E8B-E69F7917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784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Forma&#10;&#10;Descripción generada automáticamente con confianza media">
            <a:extLst>
              <a:ext uri="{FF2B5EF4-FFF2-40B4-BE49-F238E27FC236}">
                <a16:creationId xmlns:a16="http://schemas.microsoft.com/office/drawing/2014/main" id="{45714F61-E5E4-EB8D-7D3E-846D2972B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A0396AE5-2933-D646-5ECF-8C482ED5B9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60ED615-7837-B659-5C5D-334254136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5400000">
            <a:off x="3753972" y="1329531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CB0915C8-75B1-01D3-B801-C589BBB4E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7399693" y="2233071"/>
            <a:ext cx="5272777" cy="263543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BAF1DE25-495E-7592-EDB3-8CE650FC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4E4FA53-325D-4EFB-B6CC-49294224DF02}" type="datetime4">
              <a:rPr lang="en-US" smtClean="0"/>
              <a:t>March 12, 2026</a:t>
            </a:fld>
            <a:endParaRPr lang="es-MX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9EBD78A7-D56F-71B6-4340-96D026F4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4168E466-F2DE-54FF-4F77-F02AD795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937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45AA99-9C77-3152-D2E1-791F9F5A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19" y="365125"/>
            <a:ext cx="115742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592021-C25E-2227-CE66-247C6EB2C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19" y="1690688"/>
            <a:ext cx="11574218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here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MX"/>
          </a:p>
        </p:txBody>
      </p:sp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FC9DEEAA-FE1F-0839-A61E-70958C8510A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4C5BA7D3-86BD-F576-BE03-823F1F182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40005" y="6356350"/>
            <a:ext cx="1294598" cy="365125"/>
          </a:xfrm>
          <a:prstGeom prst="rect">
            <a:avLst/>
          </a:prstGeom>
        </p:spPr>
        <p:txBody>
          <a:bodyPr anchor="ctr"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D464806-4B4A-4BB7-BCE6-98E87EB69E2D}" type="datetime4">
              <a:rPr lang="en-US" smtClean="0"/>
              <a:t>March 12, 2026</a:t>
            </a:fld>
            <a:endParaRPr lang="en-US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7A6E0445-6C8B-3BFB-BD96-A70511B44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055A7836-8952-D798-B4D7-E10B8D710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 anchor="ctr"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41831D9-926B-4302-A6F7-54B31F00B9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ECCF0C-E842-9CFE-567F-FD6A1CE57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Preconditioning Using Gurobi For Constrained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33184-E9F3-BAA8-85E2-99F0AAEFC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224" y="2654353"/>
            <a:ext cx="3665552" cy="774647"/>
          </a:xfrm>
        </p:spPr>
        <p:txBody>
          <a:bodyPr>
            <a:noAutofit/>
          </a:bodyPr>
          <a:lstStyle/>
          <a:p>
            <a:r>
              <a:rPr lang="en-US" sz="1400" dirty="0"/>
              <a:t>Anurag Ramesh</a:t>
            </a:r>
          </a:p>
          <a:p>
            <a:r>
              <a:rPr lang="en-US" sz="1400" dirty="0"/>
              <a:t>Maxime Dupont</a:t>
            </a:r>
          </a:p>
          <a:p>
            <a:r>
              <a:rPr lang="en-US" sz="1400" dirty="0"/>
              <a:t>Bhuvanesh Sundar</a:t>
            </a:r>
          </a:p>
          <a:p>
            <a:r>
              <a:rPr lang="en-US" sz="1400" dirty="0"/>
              <a:t>David E. Bernal Neira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5533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38B2-A80C-BDDA-CAD1-7D03D701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1/28/2026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8CDD8-701C-5FEF-9431-EA238B677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8, seed = 0,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3CE75-3874-C85F-4ED9-38F830180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9" y="6356350"/>
            <a:ext cx="1473442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509A6-9E81-F676-BCC3-C6A6EABDE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77785-05D8-DBA6-FE13-A71FF83F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2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BD8530-FB45-0482-4167-2DA92EAEE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E7B366-1FA5-A223-B96E-E33E561A6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18" y="2250433"/>
            <a:ext cx="5541451" cy="31321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12088D-2B6F-8920-9D48-043850B3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395" y="2250433"/>
            <a:ext cx="5541449" cy="313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9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2A94A-3A4C-359A-1851-5C1460E8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A6E3-AE9E-DACD-1BE0-3C4A7D3B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1/28/2026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A0A58-F938-F6BF-1601-CB35E9BC8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20, seed = 0,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41075-0B49-BF08-81A3-C77934F7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53777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E0624-A5AD-55B1-6119-9D484EC6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B35CA-A3C8-019C-CB77-511EF03B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3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F6EDDC-1AD6-8975-27FD-A0569F84C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723D88-C07F-EA6D-67E9-7A223CD01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934" y="2379845"/>
            <a:ext cx="5352650" cy="30254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674121-02DA-13C6-1197-A447F628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41" y="2379845"/>
            <a:ext cx="5352650" cy="302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70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BC4D-4C09-6E9B-C2A8-A8694D35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A217-7CEF-57BB-1F84-CE98814F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1/28/2026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00C6-3108-C96E-F741-A57F6F7BA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28, seed = 0,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15274-EF9C-1BEE-5393-D384C4EDB9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351CA-B0A3-E659-3586-3AD7F27D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E238C-A0C2-75D8-6748-6C313292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4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543D64-A5D6-0D91-D9C1-082C866FE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719AAF-1204-A8EC-08D6-10109AF2C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61" y="2379845"/>
            <a:ext cx="5352651" cy="30254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CA3945-4E0B-5E04-3398-29A2ADE71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944" y="2365552"/>
            <a:ext cx="5352651" cy="302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6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695F-563D-C06A-0039-5C74CC64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05BA-CD6D-1825-0191-8BB80B7C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2/25/2026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6E5A3-C1FD-8210-336F-873B9C5A7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24, all instances (50),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1D7BC-D429-984B-3E9D-EB5FF0EC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720EF-C6EA-D2C2-5E13-E9F28623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5FB52-17B8-F92F-CD59-8F60A8A4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5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154139-B16D-EB15-DFFD-B72E55AE3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00A64A-B389-3CE5-06CA-5F542A486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2346464"/>
            <a:ext cx="6345977" cy="30898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FEBC5D-AC0F-9033-2B85-3FC11EAD1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8" y="2428403"/>
            <a:ext cx="5176631" cy="292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E4F0-723B-8993-DCDD-C598A49E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25B46-D94E-4DA3-1ADE-7E46ACCC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2/25/2026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C8EF-CBD1-22BB-C3B4-01A1EA681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24, all instances (50),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DE381-CAC8-E6BF-57FB-3E356D5E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8D4F2-E0B1-5BF7-7985-62CAE5A2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B6BD0-1FAC-DD69-D99B-E7D31494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6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66AA2E-72B3-6B79-DE6A-880052FA75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A76963-D5FA-1493-D171-3EA92A6BE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2346464"/>
            <a:ext cx="6345977" cy="30898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F256DF-9F3F-2C28-083C-F1C390FE4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8" y="2428403"/>
            <a:ext cx="5176631" cy="292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62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F1A86-BB87-A77B-4AAA-F52CBC30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DCFD-E2BB-6EF1-1013-DC797EC53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2/25/2026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174B-27F4-0D9E-F59E-5EF38FC69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28, all instances (50),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E5902-7785-09AD-2180-5088347F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4ADEC-FAE8-0B76-2B54-985EE1E1E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0F58-9AFB-8CB3-6F3B-B7EE507E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7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F653BF-399E-D6ED-5555-2D4C4B0A64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623D87-F155-F26C-1868-1F1D2D2E0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28" y="2499443"/>
            <a:ext cx="5434111" cy="30714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84081A-9B8D-3143-4D32-1CB1A608A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30" y="2501344"/>
            <a:ext cx="5988307" cy="29302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03B552-6751-42EC-7BDA-8E36D4E894F6}"/>
              </a:ext>
            </a:extLst>
          </p:cNvPr>
          <p:cNvSpPr txBox="1"/>
          <p:nvPr/>
        </p:nvSpPr>
        <p:spPr>
          <a:xfrm>
            <a:off x="8114867" y="5570897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 to best Solution</a:t>
            </a:r>
          </a:p>
        </p:txBody>
      </p:sp>
    </p:spTree>
    <p:extLst>
      <p:ext uri="{BB962C8B-B14F-4D97-AF65-F5344CB8AC3E}">
        <p14:creationId xmlns:p14="http://schemas.microsoft.com/office/powerpoint/2010/main" val="807011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4E22-4488-2369-5670-4089ECE0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FE12-B21C-596B-42B2-1256E3E0B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2/25/2026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7F75D-BCE7-EEED-50B5-B1CAA771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28, all instances (50),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134BD-CC26-3109-4E8A-5D40F31F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9018-086A-526D-1802-6632D74F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783E-2C95-3E50-5ACC-62F93A7D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8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591335-3604-055C-8193-989313767F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8C3DE7-E309-196E-3AEE-B8171DF3F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688" y="2501344"/>
            <a:ext cx="5988307" cy="2930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87EC37-2156-2232-B7F6-F9403683C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2501345"/>
            <a:ext cx="5988307" cy="29302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D9E9A9-2456-2AE1-8A46-13CD9E437222}"/>
              </a:ext>
            </a:extLst>
          </p:cNvPr>
          <p:cNvSpPr txBox="1"/>
          <p:nvPr/>
        </p:nvSpPr>
        <p:spPr>
          <a:xfrm>
            <a:off x="1780915" y="5574890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Optimality Guarantee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ABD7CD-1AB7-9A5F-A334-012757424D86}"/>
              </a:ext>
            </a:extLst>
          </p:cNvPr>
          <p:cNvSpPr txBox="1"/>
          <p:nvPr/>
        </p:nvSpPr>
        <p:spPr>
          <a:xfrm>
            <a:off x="8114867" y="5570897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 to best Solution</a:t>
            </a:r>
          </a:p>
        </p:txBody>
      </p:sp>
    </p:spTree>
    <p:extLst>
      <p:ext uri="{BB962C8B-B14F-4D97-AF65-F5344CB8AC3E}">
        <p14:creationId xmlns:p14="http://schemas.microsoft.com/office/powerpoint/2010/main" val="207755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BC6F6-DBDA-4C99-EC95-F5E0C0A2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CBFF-AA4F-A207-E036-5753B221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2/25/2026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736D-402D-AD13-B7F9-60EC42E63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32, all instances (50),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FE612-9E4A-7A1E-BA5E-ED2A9A66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18CF7-A818-5857-8DD5-7CECD543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389F7-1853-C3AA-4E4B-2FB1CF04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9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5932C6-40FB-858E-F346-9CA61E003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830324-2499-6C0D-19A8-C2F448F0D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246" y="2506797"/>
            <a:ext cx="5858092" cy="28993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D9B142-B234-ED3F-C539-26649C694CA9}"/>
              </a:ext>
            </a:extLst>
          </p:cNvPr>
          <p:cNvSpPr txBox="1"/>
          <p:nvPr/>
        </p:nvSpPr>
        <p:spPr>
          <a:xfrm>
            <a:off x="8114867" y="5570897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 to best Solution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F4AB73-A3F9-4780-9EE9-102A9A4B1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4" y="2418656"/>
            <a:ext cx="5577041" cy="315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22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55C8-6A38-E419-D1EE-44F69A9C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6138-38F3-4A7B-8BF2-6EC6179D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2/25/2026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17F8-2122-4F73-9C12-9E24B342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32, all instances (50),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5A8A-6ED2-F9C2-D222-013962E9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FFC46-980F-A8A2-18CA-04F8F933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09FAD-E5BA-DB3D-012C-40FC80E5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10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D6A8C5-59D6-8881-A7CB-CC3615B80A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1DF38-8967-A6A9-1E6E-6F59E5D1C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23" y="2513330"/>
            <a:ext cx="5858093" cy="2899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1A1088-D3D6-BB9D-D070-5B2E20937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246" y="2506797"/>
            <a:ext cx="5858092" cy="28993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B051E3-870D-9B21-D774-14C9E7C5D1CF}"/>
              </a:ext>
            </a:extLst>
          </p:cNvPr>
          <p:cNvSpPr txBox="1"/>
          <p:nvPr/>
        </p:nvSpPr>
        <p:spPr>
          <a:xfrm>
            <a:off x="1780915" y="5574890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Optimality Guarantee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86572D-C930-9941-72F1-44F6E3E5A688}"/>
              </a:ext>
            </a:extLst>
          </p:cNvPr>
          <p:cNvSpPr txBox="1"/>
          <p:nvPr/>
        </p:nvSpPr>
        <p:spPr>
          <a:xfrm>
            <a:off x="8114867" y="5570897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 to best Solution</a:t>
            </a:r>
          </a:p>
        </p:txBody>
      </p:sp>
    </p:spTree>
    <p:extLst>
      <p:ext uri="{BB962C8B-B14F-4D97-AF65-F5344CB8AC3E}">
        <p14:creationId xmlns:p14="http://schemas.microsoft.com/office/powerpoint/2010/main" val="56950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5966-B8FC-9677-277F-1E9C573AA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D6CC-EFAC-1FA5-C972-35D25845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2/25/2026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F4C57-DD96-9BC4-DDCC-6CF2CA41F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36, all instances (50),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5D33F-CA1D-4DB9-2977-D1C8DFFC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25143-DBAE-7340-02BC-357D7A52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D0612-C135-302F-2E21-89B289E7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11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4DB136-2FE4-6005-3820-E0113380E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5B28C6-5035-799D-5DC8-A2952AB0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492" y="2368868"/>
            <a:ext cx="6094730" cy="30473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89AF87-4A7D-B7EA-5B29-7E0991EED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63" y="2321552"/>
            <a:ext cx="5558918" cy="314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63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78A6-5708-FC74-8538-658D6380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C0CC2-9D36-B6EA-A308-E217A19D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3/12/2026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96E71-B9CB-D637-C9F6-4FB8CA507D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are the guarantees of the preconditioning?</a:t>
                </a:r>
              </a:p>
              <a:p>
                <a:r>
                  <a:rPr lang="en-US" dirty="0"/>
                  <a:t>Can one use a dual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surrogates?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96E71-B9CB-D637-C9F6-4FB8CA507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8" t="-2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106F-090E-2283-6A87-7F06240084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96A9F-1516-5940-B7BA-B83689FF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A3FA5-FC08-87DD-E876-CBFF4B1D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12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40A6E9-DA4F-A44E-579C-96EDA2212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5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6D95-A751-8823-B787-7E1245FF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586D-1822-15D5-F3E7-95E4015B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3/12/2026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6411-6A7B-B31A-79E4-F9A12415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20, all instances,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1F876-76A7-1094-F2CA-067BBC84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80A53-ECDD-9CF6-F84E-DC276CA7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2A968-ADA7-6A42-E04C-3C2D64AE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13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7E5976-DAA3-31A3-B92D-47F66C1074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3CFB58-3AC1-E80C-E12C-11F9103C7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1" y="2353426"/>
            <a:ext cx="6461758" cy="35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8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EB988-79AA-257C-4148-7E81B1A5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2D86-E2C5-0EA6-1E38-E55FA120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3/12/2026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3611-2CD8-D302-1C60-0210C7E2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QP/Baseline with Gurobi: N = 20, all instances, p =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21374-0CB5-B223-889D-5248D03B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8" y="6356350"/>
            <a:ext cx="1434113" cy="365125"/>
          </a:xfrm>
        </p:spPr>
        <p:txBody>
          <a:bodyPr/>
          <a:lstStyle/>
          <a:p>
            <a:fld id="{A65404F8-D6E6-4722-A8D7-5A45E730DFCE}" type="datetime4">
              <a:rPr lang="en-US" smtClean="0"/>
              <a:t>March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CE301-E81E-05D0-68BA-F4C4ABE2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CDC75-E94D-8DF5-601B-CB291C38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14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0C2D1E-70D3-636C-34F1-FD8730877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A5F5F5-6F43-9F6E-4E24-5ADB35455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536" y="2215412"/>
            <a:ext cx="6235382" cy="343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241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ysClr val="windowText" lastClr="000000"/>
      </a:dk1>
      <a:lt1>
        <a:sysClr val="window" lastClr="FFFFFF"/>
      </a:lt1>
      <a:dk2>
        <a:srgbClr val="CCBA96"/>
      </a:dk2>
      <a:lt2>
        <a:srgbClr val="E8E8E8"/>
      </a:lt2>
      <a:accent1>
        <a:srgbClr val="000000"/>
      </a:accent1>
      <a:accent2>
        <a:srgbClr val="FFFFFF"/>
      </a:accent2>
      <a:accent3>
        <a:srgbClr val="CCBA96"/>
      </a:accent3>
      <a:accent4>
        <a:srgbClr val="000000"/>
      </a:accent4>
      <a:accent5>
        <a:srgbClr val="FFFFFF"/>
      </a:accent5>
      <a:accent6>
        <a:srgbClr val="CCBA96"/>
      </a:accent6>
      <a:hlink>
        <a:srgbClr val="156082"/>
      </a:hlink>
      <a:folHlink>
        <a:srgbClr val="CCBA96"/>
      </a:folHlink>
    </a:clrScheme>
    <a:fontScheme name="SECQUOI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Secquoia" id="{C6B8D85F-9CFC-4934-BEF1-ABA8C8B0329D}" vid="{F817975E-C17C-4D9C-BFAB-0CAE7DF79A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SECQUOIA Template</Template>
  <TotalTime>1949</TotalTime>
  <Words>318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Cambria Math</vt:lpstr>
      <vt:lpstr>Roboto</vt:lpstr>
      <vt:lpstr>Roboto Medium</vt:lpstr>
      <vt:lpstr>Tema de Office</vt:lpstr>
      <vt:lpstr>PowerPoint Presentation</vt:lpstr>
      <vt:lpstr>1/28/2026</vt:lpstr>
      <vt:lpstr>1/28/2026</vt:lpstr>
      <vt:lpstr>1/28/2026</vt:lpstr>
      <vt:lpstr>2/25/2026</vt:lpstr>
      <vt:lpstr>2/25/2026</vt:lpstr>
      <vt:lpstr>2/25/2026</vt:lpstr>
      <vt:lpstr>2/25/2026</vt:lpstr>
      <vt:lpstr>2/25/2026</vt:lpstr>
      <vt:lpstr>2/25/2026</vt:lpstr>
      <vt:lpstr>2/25/2026</vt:lpstr>
      <vt:lpstr>3/12/2026</vt:lpstr>
      <vt:lpstr>3/12/2026</vt:lpstr>
      <vt:lpstr>3/12/2026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Esteban Bernal Neira</dc:creator>
  <cp:lastModifiedBy>Anurag Ramesh</cp:lastModifiedBy>
  <cp:revision>10</cp:revision>
  <dcterms:created xsi:type="dcterms:W3CDTF">2024-05-14T15:14:05Z</dcterms:created>
  <dcterms:modified xsi:type="dcterms:W3CDTF">2026-03-13T14:02:18Z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2024-05-14T15:16:08Z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291248ab-e34b-409d-85c8-a3aa4f704314</vt:lpwstr>
  </property>
  <property fmtid="{D5CDD505-2E9C-101B-9397-08002B2CF9AE}" pid="8" name="MSIP_Label_4044bd30-2ed7-4c9d-9d12-46200872a97b_ContentBits">
    <vt:lpwstr>0</vt:lpwstr>
  </property>
</Properties>
</file>